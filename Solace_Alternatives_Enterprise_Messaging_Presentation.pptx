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Solace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Enterprise Messaging Platform Evaluation</a:t>
            </a:r>
          </a:p>
          <a:p>
            <a:pPr algn="ctr">
              <a:defRPr sz="1600"/>
            </a:pPr>
            <a:r>
              <a:t>Delayed Delivery • One-to-Many • HA/DR • Replication • Spring Boot • OpenShift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Executive comparison</a:t>
            </a:r>
          </a:p>
          <a:p>
            <a:pPr>
              <a:spcAft>
                <a:spcPts val="1000"/>
              </a:spcAft>
              <a:defRPr sz="1800"/>
            </a:pPr>
            <a:r>
              <a:t>2. Apache Pulsar — strongest open-source alternative</a:t>
            </a:r>
          </a:p>
          <a:p>
            <a:pPr>
              <a:spcAft>
                <a:spcPts val="1000"/>
              </a:spcAft>
              <a:defRPr sz="1800"/>
            </a:pPr>
            <a:r>
              <a:t>3. Pulsar replication and DR</a:t>
            </a:r>
          </a:p>
          <a:p>
            <a:pPr>
              <a:spcAft>
                <a:spcPts val="1000"/>
              </a:spcAft>
              <a:defRPr sz="1800"/>
            </a:pPr>
            <a:r>
              <a:t>4. RabbitMQ and cross-DC replication</a:t>
            </a:r>
          </a:p>
          <a:p>
            <a:pPr>
              <a:spcAft>
                <a:spcPts val="1000"/>
              </a:spcAft>
              <a:defRPr sz="1800"/>
            </a:pPr>
            <a:r>
              <a:t>5. ActiveMQ Artemis / Amazon MQ</a:t>
            </a:r>
          </a:p>
          <a:p>
            <a:pPr>
              <a:spcAft>
                <a:spcPts val="1000"/>
              </a:spcAft>
              <a:defRPr sz="1800"/>
            </a:pPr>
            <a:r>
              <a:t>6. Kafka — strengths and functional gaps</a:t>
            </a:r>
          </a:p>
          <a:p>
            <a:pPr>
              <a:spcAft>
                <a:spcPts val="1000"/>
              </a:spcAft>
              <a:defRPr sz="1800"/>
            </a:pPr>
            <a:r>
              <a:t>7. Failure, delay, fan-out, ordering and transactions</a:t>
            </a:r>
          </a:p>
          <a:p>
            <a:pPr>
              <a:spcAft>
                <a:spcPts val="1000"/>
              </a:spcAft>
              <a:defRPr sz="1800"/>
            </a:pPr>
            <a:r>
              <a:t>8. Spring Boot, OpenShift, operations and cost</a:t>
            </a:r>
          </a:p>
          <a:p>
            <a:pPr>
              <a:spcAft>
                <a:spcPts val="1000"/>
              </a:spcAft>
              <a:defRPr sz="1800"/>
            </a:pPr>
            <a:r>
              <a:t>9. Ranking and recommended POC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97412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Solace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Kafka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Overall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Delayed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Not native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One-to-many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Queue semantics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2–3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High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Geo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OpenShift/K8s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Operational 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Banking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974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Solace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Apache Pulsar — Strongest Open-Source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Native delayed message delivery</a:t>
            </a:r>
          </a:p>
          <a:p>
            <a:pPr>
              <a:spcAft>
                <a:spcPts val="1000"/>
              </a:spcAft>
              <a:defRPr sz="1900"/>
            </a:pPr>
            <a:r>
              <a:t>Topic + durable subscription model supports one-to-many fan-out</a:t>
            </a:r>
          </a:p>
          <a:p>
            <a:pPr>
              <a:spcAft>
                <a:spcPts val="1000"/>
              </a:spcAft>
              <a:defRPr sz="1900"/>
            </a:pPr>
            <a:r>
              <a:t>Multiple subscription modes: Exclusive, Shared, Failover and Key_Shared</a:t>
            </a:r>
          </a:p>
          <a:p>
            <a:pPr>
              <a:spcAft>
                <a:spcPts val="1000"/>
              </a:spcAft>
              <a:defRPr sz="1900"/>
            </a:pPr>
            <a:r>
              <a:t>Message retention and replay</a:t>
            </a:r>
          </a:p>
          <a:p>
            <a:pPr>
              <a:spcAft>
                <a:spcPts val="1000"/>
              </a:spcAft>
              <a:defRPr sz="1900"/>
            </a:pPr>
            <a:r>
              <a:t>Geo-replication and multi-tenancy</a:t>
            </a:r>
          </a:p>
          <a:p>
            <a:pPr>
              <a:spcAft>
                <a:spcPts val="1000"/>
              </a:spcAft>
              <a:defRPr sz="1900"/>
            </a:pPr>
            <a:r>
              <a:t>Designed for horizontal scale and cloud-native deployment</a:t>
            </a:r>
          </a:p>
          <a:p>
            <a:pPr>
              <a:spcAft>
                <a:spcPts val="1000"/>
              </a:spcAft>
              <a:defRPr sz="1900"/>
            </a:pPr>
            <a:r>
              <a:t>Strong fit for OpenShift/Kubernetes</a:t>
            </a:r>
          </a:p>
          <a:p>
            <a:pPr>
              <a:spcAft>
                <a:spcPts val="1000"/>
              </a:spcAft>
              <a:defRPr sz="1900"/>
            </a:pPr>
            <a:r>
              <a:t>Main trade-off: higher operational complexity than RabbitMQ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Pulsar — One-to-Many and Delayed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Producer → Pulsar Topic</a:t>
            </a:r>
          </a:p>
          <a:p>
            <a:pPr>
              <a:spcAft>
                <a:spcPts val="1000"/>
              </a:spcAft>
              <a:defRPr sz="2000"/>
            </a:pPr>
            <a:r>
              <a:t>Topic → Subscription A → Service A</a:t>
            </a:r>
          </a:p>
          <a:p>
            <a:pPr>
              <a:spcAft>
                <a:spcPts val="1000"/>
              </a:spcAft>
              <a:defRPr sz="2000"/>
            </a:pPr>
            <a:r>
              <a:t>Topic → Subscription B → Service B</a:t>
            </a:r>
          </a:p>
          <a:p>
            <a:pPr>
              <a:spcAft>
                <a:spcPts val="1000"/>
              </a:spcAft>
              <a:defRPr sz="2000"/>
            </a:pPr>
            <a:r>
              <a:t>Topic → Subscription C → Service C</a:t>
            </a:r>
          </a:p>
          <a:p>
            <a:pPr>
              <a:spcAft>
                <a:spcPts val="1000"/>
              </a:spcAft>
              <a:defRPr sz="2000"/>
            </a:pPr>
            <a:r>
              <a:t>Producer can specify a delivery delay</a:t>
            </a:r>
          </a:p>
          <a:p>
            <a:pPr>
              <a:spcAft>
                <a:spcPts val="1000"/>
              </a:spcAft>
              <a:defRPr sz="2000"/>
            </a:pPr>
            <a:r>
              <a:t>POC must validate delayed-message behavior for the chosen subscription type and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Pulsar — Replication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Primary DC / Pulsar Cluster A</a:t>
            </a:r>
          </a:p>
          <a:p>
            <a:pPr>
              <a:spcAft>
                <a:spcPts val="1000"/>
              </a:spcAft>
              <a:defRPr sz="1900"/>
            </a:pPr>
            <a:r>
              <a:t>        ↓ asynchronous geo-replication</a:t>
            </a:r>
          </a:p>
          <a:p>
            <a:pPr>
              <a:spcAft>
                <a:spcPts val="1000"/>
              </a:spcAft>
              <a:defRPr sz="1900"/>
            </a:pPr>
            <a:r>
              <a:t>DR DC / Pulsar Cluster B</a:t>
            </a:r>
          </a:p>
          <a:p>
            <a:pPr>
              <a:spcAft>
                <a:spcPts val="1000"/>
              </a:spcAft>
              <a:defRPr sz="1900"/>
            </a:pPr>
            <a:r>
              <a:t>Supports replicated subscription state</a:t>
            </a:r>
          </a:p>
          <a:p>
            <a:pPr>
              <a:spcAft>
                <a:spcPts val="1000"/>
              </a:spcAft>
              <a:defRPr sz="1900"/>
            </a:pPr>
            <a:r>
              <a:t>Failover can result in redelivery — design consumers to be idempotent</a:t>
            </a:r>
          </a:p>
          <a:p>
            <a:pPr>
              <a:spcAft>
                <a:spcPts val="1000"/>
              </a:spcAft>
              <a:defRPr sz="1900"/>
            </a:pPr>
            <a:r>
              <a:t>Measure replication lag, RPO, RTO, duplicate delivery and recovery time</a:t>
            </a:r>
          </a:p>
          <a:p>
            <a:pPr>
              <a:spcAft>
                <a:spcPts val="1000"/>
              </a:spcAft>
              <a:defRPr sz="1900"/>
            </a:pPr>
            <a:r>
              <a:t>Banking pattern: durable Message ID + idempotency store + retry/DLQ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RabbitMQ — Strong Traditional Messaging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Excellent exchange → multiple queues fan-out model</a:t>
            </a:r>
          </a:p>
          <a:p>
            <a:pPr>
              <a:spcAft>
                <a:spcPts val="1000"/>
              </a:spcAft>
              <a:defRPr sz="1900"/>
            </a:pPr>
            <a:r>
              <a:t>Strong routing and queue semantics</a:t>
            </a:r>
          </a:p>
          <a:p>
            <a:pPr>
              <a:spcAft>
                <a:spcPts val="1000"/>
              </a:spcAft>
              <a:defRPr sz="1900"/>
            </a:pPr>
            <a:r>
              <a:t>Excellent Spring Boot integration</a:t>
            </a:r>
          </a:p>
          <a:p>
            <a:pPr>
              <a:spcAft>
                <a:spcPts val="1000"/>
              </a:spcAft>
              <a:defRPr sz="1900"/>
            </a:pPr>
            <a:r>
              <a:t>Quorum Queues provide replicated HA using Raft</a:t>
            </a:r>
          </a:p>
          <a:p>
            <a:pPr>
              <a:spcAft>
                <a:spcPts val="1000"/>
              </a:spcAft>
              <a:defRPr sz="1900"/>
            </a:pPr>
            <a:r>
              <a:t>Good fit for request/reply and enterprise business messaging</a:t>
            </a:r>
          </a:p>
          <a:p>
            <a:pPr>
              <a:spcAft>
                <a:spcPts val="1000"/>
              </a:spcAft>
              <a:defRPr sz="1900"/>
            </a:pPr>
            <a:r>
              <a:t>Lower operational complexity than Pulsar</a:t>
            </a:r>
          </a:p>
          <a:p>
            <a:pPr>
              <a:spcAft>
                <a:spcPts val="1000"/>
              </a:spcAft>
              <a:defRPr sz="1900"/>
            </a:pPr>
            <a:r>
              <a:t>Trade-off: less natural fit for very large event-stream replay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RabbitMQ — Cross-DC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Federation: asynchronous connectivity between RabbitMQ clusters</a:t>
            </a:r>
          </a:p>
          <a:p>
            <a:pPr>
              <a:spcAft>
                <a:spcPts val="1000"/>
              </a:spcAft>
              <a:defRPr sz="1900"/>
            </a:pPr>
            <a:r>
              <a:t>Shovel: consumes from one location and republishes to another</a:t>
            </a:r>
          </a:p>
          <a:p>
            <a:pPr>
              <a:spcAft>
                <a:spcPts val="1000"/>
              </a:spcAft>
              <a:defRPr sz="1900"/>
            </a:pPr>
            <a:r>
              <a:t>Useful for DR and distributed deployments</a:t>
            </a:r>
          </a:p>
          <a:p>
            <a:pPr>
              <a:spcAft>
                <a:spcPts val="1000"/>
              </a:spcAft>
              <a:defRPr sz="1900"/>
            </a:pPr>
            <a:r>
              <a:t>Validate replication lag and duplicate behavior</a:t>
            </a:r>
          </a:p>
          <a:p>
            <a:pPr>
              <a:spcAft>
                <a:spcPts val="1000"/>
              </a:spcAft>
              <a:defRPr sz="1900"/>
            </a:pPr>
            <a:r>
              <a:t>Cross-DC design is different from an integrated geo-replication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ActiveMQ Artemis / Amazon MQ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Strong traditional enterprise messaging platform</a:t>
            </a:r>
          </a:p>
          <a:p>
            <a:pPr>
              <a:spcAft>
                <a:spcPts val="1000"/>
              </a:spcAft>
              <a:defRPr sz="1900"/>
            </a:pPr>
            <a:r>
              <a:t>Excellent JMS / Jakarta Messaging fit</a:t>
            </a:r>
          </a:p>
          <a:p>
            <a:pPr>
              <a:spcAft>
                <a:spcPts val="1000"/>
              </a:spcAft>
              <a:defRPr sz="1900"/>
            </a:pPr>
            <a:r>
              <a:t>Strong transactional messaging and request/reply</a:t>
            </a:r>
          </a:p>
          <a:p>
            <a:pPr>
              <a:spcAft>
                <a:spcPts val="1000"/>
              </a:spcAft>
              <a:defRPr sz="1900"/>
            </a:pPr>
            <a:r>
              <a:t>Amazon MQ provides managed ActiveMQ deployment</a:t>
            </a:r>
          </a:p>
          <a:p>
            <a:pPr>
              <a:spcAft>
                <a:spcPts val="1000"/>
              </a:spcAft>
              <a:defRPr sz="1900"/>
            </a:pPr>
            <a:r>
              <a:t>Active/Standby HA across Availability Zones is available</a:t>
            </a:r>
          </a:p>
          <a:p>
            <a:pPr>
              <a:spcAft>
                <a:spcPts val="1000"/>
              </a:spcAft>
              <a:defRPr sz="1900"/>
            </a:pPr>
            <a:r>
              <a:t>Attractive when JMS + managed AWS operations are priorities</a:t>
            </a:r>
          </a:p>
          <a:p>
            <a:pPr>
              <a:spcAft>
                <a:spcPts val="1000"/>
              </a:spcAft>
              <a:defRPr sz="1900"/>
            </a:pPr>
            <a:r>
              <a:t>Less compelling than Pulsar/Kafka for large-scale streaming and replay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Kafka — Excellent Streaming, Partial Solace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Excellent for event streaming, replay, analytics and event sourcing</a:t>
            </a:r>
          </a:p>
          <a:p>
            <a:pPr>
              <a:spcAft>
                <a:spcPts val="1000"/>
              </a:spcAft>
              <a:defRPr sz="1900"/>
            </a:pPr>
            <a:r>
              <a:t>Very high throughput and mature Spring Kafka ecosystem</a:t>
            </a:r>
          </a:p>
          <a:p>
            <a:pPr>
              <a:spcAft>
                <a:spcPts val="1000"/>
              </a:spcAft>
              <a:defRPr sz="1900"/>
            </a:pPr>
            <a:r>
              <a:t>Strong partition ordering and replication</a:t>
            </a:r>
          </a:p>
          <a:p>
            <a:pPr>
              <a:spcAft>
                <a:spcPts val="1000"/>
              </a:spcAft>
              <a:defRPr sz="1900"/>
            </a:pPr>
            <a:r>
              <a:t>Native broker-level delayed delivery is the major gap</a:t>
            </a:r>
          </a:p>
          <a:p>
            <a:pPr>
              <a:spcAft>
                <a:spcPts val="1000"/>
              </a:spcAft>
              <a:defRPr sz="1900"/>
            </a:pPr>
            <a:r>
              <a:t>Usually requires delay topics, scheduler or external mechanism</a:t>
            </a:r>
          </a:p>
          <a:p>
            <a:pPr>
              <a:spcAft>
                <a:spcPts val="1000"/>
              </a:spcAft>
              <a:defRPr sz="1900"/>
            </a:pPr>
            <a:r>
              <a:t>Queue-style messaging and dynamic routing are less direct than Solace/RabbitMQ</a:t>
            </a:r>
          </a:p>
          <a:p>
            <a:pPr>
              <a:spcAft>
                <a:spcPts val="1000"/>
              </a:spcAft>
              <a:defRPr sz="1900"/>
            </a:pPr>
            <a:r>
              <a:t>Recommendation: use Kafka for streaming; do not select it solely as a Solace replacement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Replication / Failure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45795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Failure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Solace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Kafka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Node/broker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Automatic failover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In-cluster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Cross-AZ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Cross-DC / Geo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Limited/architecture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Duplicates after failover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Possible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Time-Delayed Delivery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8610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Native delayed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Additional scheduler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Apache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Depends on mechanism/version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Sometimes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One-to-Many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Solace: Topic → multiple durable queues</a:t>
            </a:r>
          </a:p>
          <a:p>
            <a:pPr>
              <a:spcAft>
                <a:spcPts val="1000"/>
              </a:spcAft>
              <a:defRPr sz="1900"/>
            </a:pPr>
            <a:r>
              <a:t>RabbitMQ: Exchange → multiple queues</a:t>
            </a:r>
          </a:p>
          <a:p>
            <a:pPr>
              <a:spcAft>
                <a:spcPts val="1000"/>
              </a:spcAft>
              <a:defRPr sz="1900"/>
            </a:pPr>
            <a:r>
              <a:t>Pulsar: Topic → multiple subscriptions</a:t>
            </a:r>
          </a:p>
          <a:p>
            <a:pPr>
              <a:spcAft>
                <a:spcPts val="1000"/>
              </a:spcAft>
              <a:defRPr sz="1900"/>
            </a:pPr>
            <a:r>
              <a:t>Kafka: Topic → multiple consumer groups / topics</a:t>
            </a:r>
          </a:p>
          <a:p>
            <a:pPr>
              <a:spcAft>
                <a:spcPts val="1000"/>
              </a:spcAft>
              <a:defRPr sz="1900"/>
            </a:pPr>
            <a:r>
              <a:t>All can fan out; Solace/Pulsar/RabbitMQ are more naturally aligned with broker-style queue semantics</a:t>
            </a:r>
          </a:p>
          <a:p>
            <a:pPr>
              <a:spcAft>
                <a:spcPts val="1000"/>
              </a:spcAft>
              <a:defRPr sz="1900"/>
            </a:pPr>
            <a:r>
              <a:t>Design fan-out tests using the actual number of consumers and queues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Kafka: strong partition-based ordering — partition key is critical</a:t>
            </a:r>
          </a:p>
          <a:p>
            <a:pPr>
              <a:spcAft>
                <a:spcPts val="1000"/>
              </a:spcAft>
              <a:defRPr sz="1800"/>
            </a:pPr>
            <a:r>
              <a:t>Pulsar: strong ordering options with suitable topic/subscription configuration</a:t>
            </a:r>
          </a:p>
          <a:p>
            <a:pPr>
              <a:spcAft>
                <a:spcPts val="1000"/>
              </a:spcAft>
              <a:defRPr sz="1800"/>
            </a:pPr>
            <a:r>
              <a:t>RabbitMQ: ordering within a queue; concurrency can affect observed processing order</a:t>
            </a:r>
          </a:p>
          <a:p>
            <a:pPr>
              <a:spcAft>
                <a:spcPts val="1000"/>
              </a:spcAft>
              <a:defRPr sz="1800"/>
            </a:pPr>
            <a:r>
              <a:t>Artemis: strong queue ordering capabilities</a:t>
            </a:r>
          </a:p>
          <a:p>
            <a:pPr>
              <a:spcAft>
                <a:spcPts val="1000"/>
              </a:spcAft>
              <a:defRPr sz="1800"/>
            </a:pPr>
            <a:r>
              <a:t>Solace: strong ordering with appropriate guaranteed messaging configuration</a:t>
            </a:r>
          </a:p>
          <a:p>
            <a:pPr>
              <a:spcAft>
                <a:spcPts val="1000"/>
              </a:spcAft>
              <a:defRPr sz="1800"/>
            </a:pPr>
            <a:r>
              <a:t>Banking example: Created → Authorized → Settled → Completed</a:t>
            </a:r>
          </a:p>
          <a:p>
            <a:pPr>
              <a:spcAft>
                <a:spcPts val="1000"/>
              </a:spcAft>
              <a:defRPr sz="1800"/>
            </a:pPr>
            <a:r>
              <a:t>Use an explicit business key and idempotent processing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Transactions &amp; Exactly-Once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Key risk: DB commit succeeds but message publish fails — or vice versa</a:t>
            </a:r>
          </a:p>
          <a:p>
            <a:pPr>
              <a:spcAft>
                <a:spcPts val="1000"/>
              </a:spcAft>
              <a:defRPr sz="1800"/>
            </a:pPr>
            <a:r>
              <a:t>Solace: strong enterprise transaction capabilities</a:t>
            </a:r>
          </a:p>
          <a:p>
            <a:pPr>
              <a:spcAft>
                <a:spcPts val="1000"/>
              </a:spcAft>
              <a:defRPr sz="1800"/>
            </a:pPr>
            <a:r>
              <a:t>Pulsar: transactions available; not a direct JMS/XA replacement for every scenario</a:t>
            </a:r>
          </a:p>
          <a:p>
            <a:pPr>
              <a:spcAft>
                <a:spcPts val="1000"/>
              </a:spcAft>
              <a:defRPr sz="1800"/>
            </a:pPr>
            <a:r>
              <a:t>RabbitMQ: transaction support available; benchmark throughput impact</a:t>
            </a:r>
          </a:p>
          <a:p>
            <a:pPr>
              <a:spcAft>
                <a:spcPts val="1000"/>
              </a:spcAft>
              <a:defRPr sz="1800"/>
            </a:pPr>
            <a:r>
              <a:t>Artemis/JMS: strong fit for traditional transactional messaging</a:t>
            </a:r>
          </a:p>
          <a:p>
            <a:pPr>
              <a:spcAft>
                <a:spcPts val="1000"/>
              </a:spcAft>
              <a:defRPr sz="1800"/>
            </a:pPr>
            <a:r>
              <a:t>Kafka: strong Kafka-native transaction / exactly-once processing patterns</a:t>
            </a:r>
          </a:p>
          <a:p>
            <a:pPr>
              <a:spcAft>
                <a:spcPts val="1000"/>
              </a:spcAft>
              <a:defRPr sz="1800"/>
            </a:pPr>
            <a:r>
              <a:t>Regardless of broker: use idempotency for payment/business processing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Spring Boot &amp; OpenShift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8610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OpenShift/K8s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Key point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 integration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Cloud-native; higher operational scope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Mature Spring AMQP + Operator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Strong JMS; managed AWS option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Mature Spring Kafka + K8s ecosystem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Operational Complexity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8610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Relative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Comment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Low–Medium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Strong enterprise tooling/support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Simple broker model; HA/DR needs design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Managed option reduces operations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Medium–High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Cluster tuning and platform components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Powerful but multiple infrastructure components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Relative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8610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Overall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Low–Medium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Medium–High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Medium–High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Low–Medium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Low–Medium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OSS /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Low–Medium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OSS /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Medium–High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Medium–High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Medium–High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Ranking for Your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8610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Best fit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Solace PubSub+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4.8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overall enterprise messaging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Apache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open-source Solace alternative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simpler / lower-cost messaging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ActiveMQ Artemis / Amazon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traditional JMS/enterprise messaging</a:t>
                      </a:r>
                    </a:p>
                  </a:txBody>
                  <a:tcPr/>
                </a:tc>
              </a:tr>
              <a:tr h="861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Apache 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event streaming; partial replacement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POC — Don't Compare Only Broker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Baseline: 10M messages/hour ≈ 2,778 messages/sec</a:t>
            </a:r>
          </a:p>
          <a:p>
            <a:pPr>
              <a:spcAft>
                <a:spcPts val="1000"/>
              </a:spcAft>
              <a:defRPr sz="1800"/>
            </a:pPr>
            <a:r>
              <a:t>Spike: 5× ≈ 14K messages/sec; 10× ≈ 28K messages/sec</a:t>
            </a:r>
          </a:p>
          <a:p>
            <a:pPr>
              <a:spcAft>
                <a:spcPts val="1000"/>
              </a:spcAft>
              <a:defRPr sz="1800"/>
            </a:pPr>
            <a:r>
              <a:t>Measure P99 publish and end-to-end delivery latency</a:t>
            </a:r>
          </a:p>
          <a:p>
            <a:pPr>
              <a:spcAft>
                <a:spcPts val="1000"/>
              </a:spcAft>
              <a:defRPr sz="1800"/>
            </a:pPr>
            <a:r>
              <a:t>Measure CPU, memory, disk IOPS and replication lag</a:t>
            </a:r>
          </a:p>
          <a:p>
            <a:pPr>
              <a:spcAft>
                <a:spcPts val="1000"/>
              </a:spcAft>
              <a:defRPr sz="1800"/>
            </a:pPr>
            <a:r>
              <a:t>Test node failure, network partition, AZ failure and DC failover</a:t>
            </a:r>
          </a:p>
          <a:p>
            <a:pPr>
              <a:spcAft>
                <a:spcPts val="1000"/>
              </a:spcAft>
              <a:defRPr sz="1800"/>
            </a:pPr>
            <a:r>
              <a:t>Test delayed messages while broker/node/AZ/DC fails</a:t>
            </a:r>
          </a:p>
          <a:p>
            <a:pPr>
              <a:spcAft>
                <a:spcPts val="1000"/>
              </a:spcAft>
              <a:defRPr sz="1800"/>
            </a:pPr>
            <a:r>
              <a:t>Measure duplicate messages, ordering violations and backlog recovery</a:t>
            </a:r>
          </a:p>
          <a:p>
            <a:pPr>
              <a:spcAft>
                <a:spcPts val="1000"/>
              </a:spcAft>
              <a:defRPr sz="1800"/>
            </a:pPr>
            <a:r>
              <a:t>Measure RPO, RTO and recovery behavior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🥇 Solace — best overall enterprise messaging if cost/licensing is acceptable</a:t>
            </a:r>
          </a:p>
          <a:p>
            <a:pPr>
              <a:spcAft>
                <a:spcPts val="1000"/>
              </a:spcAft>
              <a:defRPr sz="2000"/>
            </a:pPr>
            <a:r>
              <a:t>🥈 Apache Pulsar — strongest open-source candidate for a Solace replacement</a:t>
            </a:r>
          </a:p>
          <a:p>
            <a:pPr>
              <a:spcAft>
                <a:spcPts val="1000"/>
              </a:spcAft>
              <a:defRPr sz="2000"/>
            </a:pPr>
            <a:r>
              <a:t>🥉 RabbitMQ — strongest simpler and lower-cost broker alternative</a:t>
            </a:r>
          </a:p>
          <a:p>
            <a:pPr>
              <a:spcAft>
                <a:spcPts val="1000"/>
              </a:spcAft>
              <a:defRPr sz="2000"/>
            </a:pPr>
            <a:r>
              <a:t>Artemis / Amazon MQ — best where JMS, transactions and managed AWS are priorities</a:t>
            </a:r>
          </a:p>
          <a:p>
            <a:pPr>
              <a:spcAft>
                <a:spcPts val="1000"/>
              </a:spcAft>
              <a:defRPr sz="2000"/>
            </a:pPr>
            <a:r>
              <a:t>Kafka — preferred for event streaming, but not a direct delayed-message Solace replacement</a:t>
            </a:r>
          </a:p>
          <a:p>
            <a:pPr>
              <a:spcAft>
                <a:spcPts val="1000"/>
              </a:spcAft>
              <a:defRPr sz="2000"/>
            </a:pPr>
            <a:r>
              <a:t>Next step: run a controlled POC with real message size, fan-out, persistence, replication and DR scenarios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Architecture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Broker HA ≠ zero duplicate business processing</a:t>
            </a:r>
          </a:p>
          <a:p>
            <a:pPr>
              <a:spcAft>
                <a:spcPts val="1000"/>
              </a:spcAft>
              <a:defRPr sz="2100"/>
            </a:pPr>
            <a:r>
              <a:t>Design for at-least-once delivery</a:t>
            </a:r>
          </a:p>
          <a:p>
            <a:pPr>
              <a:spcAft>
                <a:spcPts val="1000"/>
              </a:spcAft>
              <a:defRPr sz="2100"/>
            </a:pPr>
            <a:r>
              <a:t>Use durable Message ID / business transaction ID</a:t>
            </a:r>
          </a:p>
          <a:p>
            <a:pPr>
              <a:spcAft>
                <a:spcPts val="1000"/>
              </a:spcAft>
              <a:defRPr sz="2100"/>
            </a:pPr>
            <a:r>
              <a:t>Use idempotency at the consumer</a:t>
            </a:r>
          </a:p>
          <a:p>
            <a:pPr>
              <a:spcAft>
                <a:spcPts val="1000"/>
              </a:spcAft>
              <a:defRPr sz="2100"/>
            </a:pPr>
            <a:r>
              <a:t>Use retry + DLQ + observability</a:t>
            </a:r>
          </a:p>
          <a:p>
            <a:pPr>
              <a:spcAft>
                <a:spcPts val="1000"/>
              </a:spcAft>
              <a:defRPr sz="2100"/>
            </a:pPr>
            <a:r>
              <a:t>Validate failover and delayed-message behavior under realistic banking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